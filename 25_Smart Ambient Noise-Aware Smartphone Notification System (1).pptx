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6" r:id="rId5"/>
    <p:sldMasterId id="2147483668" r:id="rId6"/>
  </p:sldMasterIdLst>
  <p:notesMasterIdLst>
    <p:notesMasterId r:id="rId11"/>
  </p:notesMasterIdLst>
  <p:sldIdLst>
    <p:sldId id="256" r:id="rId7"/>
    <p:sldId id="257" r:id="rId8"/>
    <p:sldId id="258" r:id="rId9"/>
    <p:sldId id="25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01"/>
    <p:restoredTop sz="96405"/>
  </p:normalViewPr>
  <p:slideViewPr>
    <p:cSldViewPr snapToGrid="0">
      <p:cViewPr>
        <p:scale>
          <a:sx n="80" d="100"/>
          <a:sy n="80" d="100"/>
        </p:scale>
        <p:origin x="-154" y="-6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99EF1-A9A1-0142-A435-D6CF67BE6D8C}"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17D8E3-4DED-884B-B60B-A5855D3C8188}" type="slidenum">
              <a:rPr lang="en-US" smtClean="0"/>
              <a:t>‹#›</a:t>
            </a:fld>
            <a:endParaRPr lang="en-US"/>
          </a:p>
        </p:txBody>
      </p:sp>
    </p:spTree>
    <p:extLst>
      <p:ext uri="{BB962C8B-B14F-4D97-AF65-F5344CB8AC3E}">
        <p14:creationId xmlns:p14="http://schemas.microsoft.com/office/powerpoint/2010/main" val="3173928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everyone, we are Dhanush and Lavanesh. Today we’re introducing SmartAmbientAI, a project focused on refactoring how mobile devices perceive and respond to their physical environments using on-device deep learning.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phones require manual adjustment for notifications or volume. While our current prototype uses basic sensor thresholds, it lacks the 'smart' perspective emphasized in this course. We want to move from simple rules to a data-driven system that truly understands your surroundings.</a:t>
            </a:r>
          </a:p>
        </p:txBody>
      </p:sp>
      <p:sp>
        <p:nvSpPr>
          <p:cNvPr id="4" name="Slide Number Placeholder 3"/>
          <p:cNvSpPr>
            <a:spLocks noGrp="1"/>
          </p:cNvSpPr>
          <p:nvPr>
            <p:ph type="sldNum" sz="quarter" idx="5"/>
          </p:nvPr>
        </p:nvSpPr>
        <p:spPr/>
        <p:txBody>
          <a:bodyPr/>
          <a:lstStyle/>
          <a:p>
            <a:fld id="{6417D8E3-4DED-884B-B60B-A5855D3C8188}" type="slidenum">
              <a:rPr lang="en-US" smtClean="0"/>
              <a:t>2</a:t>
            </a:fld>
            <a:endParaRPr lang="en-US"/>
          </a:p>
        </p:txBody>
      </p:sp>
    </p:spTree>
    <p:extLst>
      <p:ext uri="{BB962C8B-B14F-4D97-AF65-F5344CB8AC3E}">
        <p14:creationId xmlns:p14="http://schemas.microsoft.com/office/powerpoint/2010/main" val="2032274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plan involves three key steps: First, expanding our sensor suite to include light and spectral audio data. Second, replacing rule-based logic with a TFLite model for on-device inference. Finally, we will evaluate the system based on inference efficiency and battery impact, as outlined in the course topics. We’re excited to discuss any potential collaborations on mobile sensing or data collection!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580765E-9E46-F923-4537-881F829F0E54}"/>
              </a:ext>
            </a:extLst>
          </p:cNvPr>
          <p:cNvPicPr>
            <a:picLocks noChangeAspect="1"/>
          </p:cNvPicPr>
          <p:nvPr userDrawn="1"/>
        </p:nvPicPr>
        <p:blipFill rotWithShape="1">
          <a:blip r:embed="rId2">
            <a:alphaModFix amt="20000"/>
          </a:blip>
          <a:srcRect b="19027"/>
          <a:stretch/>
        </p:blipFill>
        <p:spPr>
          <a:xfrm>
            <a:off x="4902150" y="-674203"/>
            <a:ext cx="7694778" cy="8354115"/>
          </a:xfrm>
          <a:prstGeom prst="rect">
            <a:avLst/>
          </a:prstGeom>
        </p:spPr>
      </p:pic>
      <p:sp>
        <p:nvSpPr>
          <p:cNvPr id="2" name="Title 1">
            <a:extLst>
              <a:ext uri="{FF2B5EF4-FFF2-40B4-BE49-F238E27FC236}">
                <a16:creationId xmlns:a16="http://schemas.microsoft.com/office/drawing/2014/main" id="{F8649688-59E7-1703-6239-C6E17422C4E4}"/>
              </a:ext>
            </a:extLst>
          </p:cNvPr>
          <p:cNvSpPr>
            <a:spLocks noGrp="1"/>
          </p:cNvSpPr>
          <p:nvPr>
            <p:ph type="ctrTitle"/>
          </p:nvPr>
        </p:nvSpPr>
        <p:spPr>
          <a:xfrm>
            <a:off x="779481" y="3697149"/>
            <a:ext cx="7604864" cy="1380539"/>
          </a:xfrm>
        </p:spPr>
        <p:txBody>
          <a:bodyPr anchor="b">
            <a:normAutofit/>
          </a:bodyPr>
          <a:lstStyle>
            <a:lvl1pPr algn="l">
              <a:defRPr sz="4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0AEE2DF3-20B9-5FE4-78BC-2A84C112A90A}"/>
              </a:ext>
            </a:extLst>
          </p:cNvPr>
          <p:cNvSpPr>
            <a:spLocks noGrp="1"/>
          </p:cNvSpPr>
          <p:nvPr>
            <p:ph type="subTitle" idx="1"/>
          </p:nvPr>
        </p:nvSpPr>
        <p:spPr>
          <a:xfrm>
            <a:off x="1559796" y="5412912"/>
            <a:ext cx="3342354" cy="1464519"/>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14" name="Picture 13">
            <a:extLst>
              <a:ext uri="{FF2B5EF4-FFF2-40B4-BE49-F238E27FC236}">
                <a16:creationId xmlns:a16="http://schemas.microsoft.com/office/drawing/2014/main" id="{01587E38-3EC4-A044-D625-EEAF1E6EC062}"/>
              </a:ext>
            </a:extLst>
          </p:cNvPr>
          <p:cNvPicPr>
            <a:picLocks noChangeAspect="1"/>
          </p:cNvPicPr>
          <p:nvPr userDrawn="1"/>
        </p:nvPicPr>
        <p:blipFill>
          <a:blip r:embed="rId3"/>
          <a:stretch>
            <a:fillRect/>
          </a:stretch>
        </p:blipFill>
        <p:spPr>
          <a:xfrm>
            <a:off x="615061" y="1197215"/>
            <a:ext cx="5899299" cy="1981444"/>
          </a:xfrm>
          <a:prstGeom prst="rect">
            <a:avLst/>
          </a:prstGeom>
        </p:spPr>
      </p:pic>
      <p:pic>
        <p:nvPicPr>
          <p:cNvPr id="5" name="Picture 4">
            <a:extLst>
              <a:ext uri="{FF2B5EF4-FFF2-40B4-BE49-F238E27FC236}">
                <a16:creationId xmlns:a16="http://schemas.microsoft.com/office/drawing/2014/main" id="{953E1F77-3976-FC07-D6FA-5715ADAF14E2}"/>
              </a:ext>
            </a:extLst>
          </p:cNvPr>
          <p:cNvPicPr>
            <a:picLocks noChangeAspect="1"/>
          </p:cNvPicPr>
          <p:nvPr userDrawn="1"/>
        </p:nvPicPr>
        <p:blipFill>
          <a:blip r:embed="rId4"/>
          <a:stretch>
            <a:fillRect/>
          </a:stretch>
        </p:blipFill>
        <p:spPr>
          <a:xfrm>
            <a:off x="9963982" y="3502855"/>
            <a:ext cx="5932940" cy="7005710"/>
          </a:xfrm>
          <a:prstGeom prst="rect">
            <a:avLst/>
          </a:prstGeom>
        </p:spPr>
      </p:pic>
      <p:pic>
        <p:nvPicPr>
          <p:cNvPr id="7" name="Picture 6">
            <a:extLst>
              <a:ext uri="{FF2B5EF4-FFF2-40B4-BE49-F238E27FC236}">
                <a16:creationId xmlns:a16="http://schemas.microsoft.com/office/drawing/2014/main" id="{EF758EA4-EA94-F72F-4C37-A2D336BDE9F0}"/>
              </a:ext>
            </a:extLst>
          </p:cNvPr>
          <p:cNvPicPr>
            <a:picLocks noChangeAspect="1"/>
          </p:cNvPicPr>
          <p:nvPr userDrawn="1"/>
        </p:nvPicPr>
        <p:blipFill>
          <a:blip r:embed="rId5"/>
          <a:stretch>
            <a:fillRect/>
          </a:stretch>
        </p:blipFill>
        <p:spPr>
          <a:xfrm>
            <a:off x="754906" y="5412912"/>
            <a:ext cx="651267" cy="657297"/>
          </a:xfrm>
          <a:prstGeom prst="rect">
            <a:avLst/>
          </a:prstGeom>
        </p:spPr>
      </p:pic>
    </p:spTree>
    <p:extLst>
      <p:ext uri="{BB962C8B-B14F-4D97-AF65-F5344CB8AC3E}">
        <p14:creationId xmlns:p14="http://schemas.microsoft.com/office/powerpoint/2010/main" val="2852685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4430F-5A5E-5D4B-4BC7-884289535AD9}"/>
              </a:ext>
            </a:extLst>
          </p:cNvPr>
          <p:cNvSpPr>
            <a:spLocks noGrp="1"/>
          </p:cNvSpPr>
          <p:nvPr>
            <p:ph type="title"/>
          </p:nvPr>
        </p:nvSpPr>
        <p:spPr/>
        <p:txBody>
          <a:bodyPr>
            <a:normAutofit/>
          </a:bodyPr>
          <a:lstStyle>
            <a:lvl1pPr>
              <a:defRPr sz="32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5482327C-9D0F-B15E-C5AE-0B4402F1F54D}"/>
              </a:ext>
            </a:extLst>
          </p:cNvPr>
          <p:cNvSpPr>
            <a:spLocks noGrp="1"/>
          </p:cNvSpPr>
          <p:nvPr>
            <p:ph idx="1"/>
          </p:nvPr>
        </p:nvSpPr>
        <p:spPr>
          <a:xfrm>
            <a:off x="831166" y="1952234"/>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8B656B8F-F397-B870-64C7-260815F62451}"/>
              </a:ext>
            </a:extLst>
          </p:cNvPr>
          <p:cNvSpPr>
            <a:spLocks noGrp="1"/>
          </p:cNvSpPr>
          <p:nvPr>
            <p:ph type="ftr" sz="quarter" idx="11"/>
          </p:nvPr>
        </p:nvSpPr>
        <p:spPr>
          <a:xfrm rot="16200000">
            <a:off x="10838536" y="5052805"/>
            <a:ext cx="2095133" cy="406400"/>
          </a:xfrm>
        </p:spPr>
        <p:txBody>
          <a:bodyPr/>
          <a:lstStyle>
            <a:lvl1pPr algn="r">
              <a:defRPr>
                <a:solidFill>
                  <a:schemeClr val="tx2"/>
                </a:solidFill>
              </a:defRPr>
            </a:lvl1pPr>
          </a:lstStyle>
          <a:p>
            <a:r>
              <a:rPr lang="en-US" dirty="0"/>
              <a:t>GEORGE MASON UNIVERSITY</a:t>
            </a:r>
          </a:p>
        </p:txBody>
      </p:sp>
      <p:sp>
        <p:nvSpPr>
          <p:cNvPr id="6" name="Slide Number Placeholder 5">
            <a:extLst>
              <a:ext uri="{FF2B5EF4-FFF2-40B4-BE49-F238E27FC236}">
                <a16:creationId xmlns:a16="http://schemas.microsoft.com/office/drawing/2014/main" id="{919B4960-F59B-CF95-3858-F7F56D5011FC}"/>
              </a:ext>
            </a:extLst>
          </p:cNvPr>
          <p:cNvSpPr>
            <a:spLocks noGrp="1"/>
          </p:cNvSpPr>
          <p:nvPr>
            <p:ph type="sldNum" sz="quarter" idx="12"/>
          </p:nvPr>
        </p:nvSpPr>
        <p:spPr>
          <a:xfrm>
            <a:off x="11682902" y="6356350"/>
            <a:ext cx="406400" cy="365125"/>
          </a:xfrm>
        </p:spPr>
        <p:txBody>
          <a:bodyPr/>
          <a:lstStyle>
            <a:lvl1pPr>
              <a:defRPr>
                <a:solidFill>
                  <a:schemeClr val="tx2"/>
                </a:solidFill>
              </a:defRPr>
            </a:lvl1pPr>
          </a:lstStyle>
          <a:p>
            <a:fld id="{944FE883-4AC6-394B-8129-6E4BB686DB20}" type="slidenum">
              <a:rPr lang="en-US" smtClean="0"/>
              <a:pPr/>
              <a:t>‹#›</a:t>
            </a:fld>
            <a:endParaRPr lang="en-US" dirty="0"/>
          </a:p>
        </p:txBody>
      </p:sp>
    </p:spTree>
    <p:extLst>
      <p:ext uri="{BB962C8B-B14F-4D97-AF65-F5344CB8AC3E}">
        <p14:creationId xmlns:p14="http://schemas.microsoft.com/office/powerpoint/2010/main" val="736460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95F78E-F4A5-005F-D143-98D0ABF950FA}"/>
              </a:ext>
            </a:extLst>
          </p:cNvPr>
          <p:cNvPicPr>
            <a:picLocks noChangeAspect="1"/>
          </p:cNvPicPr>
          <p:nvPr userDrawn="1"/>
        </p:nvPicPr>
        <p:blipFill rotWithShape="1">
          <a:blip r:embed="rId2"/>
          <a:srcRect l="22097" t="73191" r="26779"/>
          <a:stretch/>
        </p:blipFill>
        <p:spPr>
          <a:xfrm>
            <a:off x="5956300" y="-2875"/>
            <a:ext cx="2400300" cy="757385"/>
          </a:xfrm>
          <a:prstGeom prst="rect">
            <a:avLst/>
          </a:prstGeom>
        </p:spPr>
      </p:pic>
      <p:pic>
        <p:nvPicPr>
          <p:cNvPr id="9" name="Picture 8">
            <a:extLst>
              <a:ext uri="{FF2B5EF4-FFF2-40B4-BE49-F238E27FC236}">
                <a16:creationId xmlns:a16="http://schemas.microsoft.com/office/drawing/2014/main" id="{5A2F6515-D6D6-585C-70C8-97944CAA7084}"/>
              </a:ext>
            </a:extLst>
          </p:cNvPr>
          <p:cNvPicPr>
            <a:picLocks noChangeAspect="1"/>
          </p:cNvPicPr>
          <p:nvPr userDrawn="1"/>
        </p:nvPicPr>
        <p:blipFill rotWithShape="1">
          <a:blip r:embed="rId3"/>
          <a:srcRect l="-10100" t="-3420" r="27678" b="5864"/>
          <a:stretch/>
        </p:blipFill>
        <p:spPr>
          <a:xfrm>
            <a:off x="11019637" y="5562599"/>
            <a:ext cx="1172363" cy="1325563"/>
          </a:xfrm>
          <a:prstGeom prst="rect">
            <a:avLst/>
          </a:prstGeom>
        </p:spPr>
      </p:pic>
      <p:sp>
        <p:nvSpPr>
          <p:cNvPr id="2" name="Title 1">
            <a:extLst>
              <a:ext uri="{FF2B5EF4-FFF2-40B4-BE49-F238E27FC236}">
                <a16:creationId xmlns:a16="http://schemas.microsoft.com/office/drawing/2014/main" id="{2334430F-5A5E-5D4B-4BC7-884289535AD9}"/>
              </a:ext>
            </a:extLst>
          </p:cNvPr>
          <p:cNvSpPr>
            <a:spLocks noGrp="1"/>
          </p:cNvSpPr>
          <p:nvPr>
            <p:ph type="title"/>
          </p:nvPr>
        </p:nvSpPr>
        <p:spPr>
          <a:xfrm>
            <a:off x="7239000" y="890886"/>
            <a:ext cx="46863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482327C-9D0F-B15E-C5AE-0B4402F1F54D}"/>
              </a:ext>
            </a:extLst>
          </p:cNvPr>
          <p:cNvSpPr>
            <a:spLocks noGrp="1"/>
          </p:cNvSpPr>
          <p:nvPr>
            <p:ph idx="1"/>
          </p:nvPr>
        </p:nvSpPr>
        <p:spPr>
          <a:xfrm>
            <a:off x="0" y="0"/>
            <a:ext cx="6311900" cy="6858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8B656B8F-F397-B870-64C7-260815F62451}"/>
              </a:ext>
            </a:extLst>
          </p:cNvPr>
          <p:cNvSpPr>
            <a:spLocks noGrp="1"/>
          </p:cNvSpPr>
          <p:nvPr>
            <p:ph type="ftr" sz="quarter" idx="11"/>
          </p:nvPr>
        </p:nvSpPr>
        <p:spPr>
          <a:xfrm>
            <a:off x="6832600" y="6356350"/>
            <a:ext cx="4114800" cy="365125"/>
          </a:xfrm>
        </p:spPr>
        <p:txBody>
          <a:bodyPr/>
          <a:lstStyle>
            <a:lvl1pPr algn="r">
              <a:defRPr>
                <a:solidFill>
                  <a:schemeClr val="tx2"/>
                </a:solidFill>
              </a:defRPr>
            </a:lvl1pPr>
          </a:lstStyle>
          <a:p>
            <a:r>
              <a:rPr lang="en-US" dirty="0"/>
              <a:t>GEORGE MASON UNIVERSITY</a:t>
            </a:r>
          </a:p>
        </p:txBody>
      </p:sp>
      <p:sp>
        <p:nvSpPr>
          <p:cNvPr id="6" name="Slide Number Placeholder 5">
            <a:extLst>
              <a:ext uri="{FF2B5EF4-FFF2-40B4-BE49-F238E27FC236}">
                <a16:creationId xmlns:a16="http://schemas.microsoft.com/office/drawing/2014/main" id="{919B4960-F59B-CF95-3858-F7F56D5011FC}"/>
              </a:ext>
            </a:extLst>
          </p:cNvPr>
          <p:cNvSpPr>
            <a:spLocks noGrp="1"/>
          </p:cNvSpPr>
          <p:nvPr>
            <p:ph type="sldNum" sz="quarter" idx="12"/>
          </p:nvPr>
        </p:nvSpPr>
        <p:spPr>
          <a:xfrm>
            <a:off x="10947400" y="6356350"/>
            <a:ext cx="406400" cy="365125"/>
          </a:xfrm>
        </p:spPr>
        <p:txBody>
          <a:bodyPr/>
          <a:lstStyle>
            <a:lvl1pPr>
              <a:defRPr>
                <a:solidFill>
                  <a:schemeClr val="tx2"/>
                </a:solidFill>
              </a:defRPr>
            </a:lvl1pPr>
          </a:lstStyle>
          <a:p>
            <a:fld id="{944FE883-4AC6-394B-8129-6E4BB686DB20}" type="slidenum">
              <a:rPr lang="en-US" smtClean="0"/>
              <a:pPr/>
              <a:t>‹#›</a:t>
            </a:fld>
            <a:endParaRPr lang="en-US" dirty="0"/>
          </a:p>
        </p:txBody>
      </p:sp>
      <p:sp>
        <p:nvSpPr>
          <p:cNvPr id="7" name="Content Placeholder 6">
            <a:extLst>
              <a:ext uri="{FF2B5EF4-FFF2-40B4-BE49-F238E27FC236}">
                <a16:creationId xmlns:a16="http://schemas.microsoft.com/office/drawing/2014/main" id="{8A07B2B8-372A-822A-3B45-E45E06B6D59A}"/>
              </a:ext>
            </a:extLst>
          </p:cNvPr>
          <p:cNvSpPr>
            <a:spLocks noGrp="1"/>
          </p:cNvSpPr>
          <p:nvPr>
            <p:ph sz="quarter" idx="13"/>
          </p:nvPr>
        </p:nvSpPr>
        <p:spPr>
          <a:xfrm>
            <a:off x="7239000" y="2489201"/>
            <a:ext cx="4686300" cy="3505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1333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7B771-CD45-205F-806A-816788390E28}"/>
              </a:ext>
            </a:extLst>
          </p:cNvPr>
          <p:cNvSpPr>
            <a:spLocks noGrp="1"/>
          </p:cNvSpPr>
          <p:nvPr>
            <p:ph type="title"/>
          </p:nvPr>
        </p:nvSpPr>
        <p:spPr>
          <a:xfrm>
            <a:off x="6527800" y="2503174"/>
            <a:ext cx="4819650" cy="1267453"/>
          </a:xfrm>
        </p:spPr>
        <p:txBody>
          <a:bodyPr anchor="b">
            <a:normAutofit/>
          </a:bodyPr>
          <a:lstStyle>
            <a:lvl1pPr algn="r">
              <a:defRPr sz="40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D47E9AFD-F871-6540-2115-DB916F644689}"/>
              </a:ext>
            </a:extLst>
          </p:cNvPr>
          <p:cNvSpPr>
            <a:spLocks noGrp="1"/>
          </p:cNvSpPr>
          <p:nvPr>
            <p:ph type="body" idx="1"/>
          </p:nvPr>
        </p:nvSpPr>
        <p:spPr>
          <a:xfrm>
            <a:off x="6527800" y="3797615"/>
            <a:ext cx="4819650" cy="1500187"/>
          </a:xfrm>
        </p:spPr>
        <p:txBody>
          <a:bodyPr/>
          <a:lstStyle>
            <a:lvl1pPr marL="0" indent="0" algn="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9" name="Picture 8">
            <a:extLst>
              <a:ext uri="{FF2B5EF4-FFF2-40B4-BE49-F238E27FC236}">
                <a16:creationId xmlns:a16="http://schemas.microsoft.com/office/drawing/2014/main" id="{73D1F781-F4CE-AC60-F115-80945A7AEA69}"/>
              </a:ext>
            </a:extLst>
          </p:cNvPr>
          <p:cNvPicPr>
            <a:picLocks noChangeAspect="1"/>
          </p:cNvPicPr>
          <p:nvPr userDrawn="1"/>
        </p:nvPicPr>
        <p:blipFill rotWithShape="1">
          <a:blip r:embed="rId2">
            <a:alphaModFix amt="20000"/>
          </a:blip>
          <a:srcRect l="6365" r="1479"/>
          <a:stretch/>
        </p:blipFill>
        <p:spPr>
          <a:xfrm>
            <a:off x="-1435100" y="419100"/>
            <a:ext cx="8085811" cy="6985000"/>
          </a:xfrm>
          <a:prstGeom prst="rect">
            <a:avLst/>
          </a:prstGeom>
        </p:spPr>
      </p:pic>
      <p:pic>
        <p:nvPicPr>
          <p:cNvPr id="8" name="Picture 7">
            <a:extLst>
              <a:ext uri="{FF2B5EF4-FFF2-40B4-BE49-F238E27FC236}">
                <a16:creationId xmlns:a16="http://schemas.microsoft.com/office/drawing/2014/main" id="{9456F55E-839E-3694-5C2F-4668203B2C98}"/>
              </a:ext>
            </a:extLst>
          </p:cNvPr>
          <p:cNvPicPr>
            <a:picLocks noChangeAspect="1"/>
          </p:cNvPicPr>
          <p:nvPr userDrawn="1"/>
        </p:nvPicPr>
        <p:blipFill>
          <a:blip r:embed="rId3"/>
          <a:stretch>
            <a:fillRect/>
          </a:stretch>
        </p:blipFill>
        <p:spPr>
          <a:xfrm>
            <a:off x="7861300" y="276893"/>
            <a:ext cx="3773552" cy="1267453"/>
          </a:xfrm>
          <a:prstGeom prst="rect">
            <a:avLst/>
          </a:prstGeom>
        </p:spPr>
      </p:pic>
    </p:spTree>
    <p:extLst>
      <p:ext uri="{BB962C8B-B14F-4D97-AF65-F5344CB8AC3E}">
        <p14:creationId xmlns:p14="http://schemas.microsoft.com/office/powerpoint/2010/main" val="1405425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C2701-4420-72DC-D9FF-898684F729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696297-FA0A-C43E-7108-817161C6E1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A60C57-4A3B-2719-81CA-09B73DA66924}"/>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5" name="Footer Placeholder 4">
            <a:extLst>
              <a:ext uri="{FF2B5EF4-FFF2-40B4-BE49-F238E27FC236}">
                <a16:creationId xmlns:a16="http://schemas.microsoft.com/office/drawing/2014/main" id="{D575C47A-F876-ED35-DAE5-3572E8113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5924CA-7BF3-D294-A28C-08A9A0606039}"/>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105046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A5C8A-0B8F-489F-EE46-BC751895B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EB6E7A-928B-AFFC-58EB-DDF90F805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F2C910-FE19-34A9-89EC-61EEDA4E4146}"/>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5" name="Footer Placeholder 4">
            <a:extLst>
              <a:ext uri="{FF2B5EF4-FFF2-40B4-BE49-F238E27FC236}">
                <a16:creationId xmlns:a16="http://schemas.microsoft.com/office/drawing/2014/main" id="{0F2EFA6F-EE9F-1222-61BB-6CA64CF7F5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B23EB0-73EB-A669-40D8-A7BDD08F13CC}"/>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932513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1FFF6-7C3E-B82E-BAD3-3DE14A8ED6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370A6E4-035E-A278-7C29-F7C19E8BAF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C13EDC-550D-793C-1A85-3455C9C4CC3D}"/>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5" name="Footer Placeholder 4">
            <a:extLst>
              <a:ext uri="{FF2B5EF4-FFF2-40B4-BE49-F238E27FC236}">
                <a16:creationId xmlns:a16="http://schemas.microsoft.com/office/drawing/2014/main" id="{450158A0-98A6-F425-07F8-AD2416B3E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759031-28CA-0A3A-FA4D-0C74C339DAD9}"/>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793017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A442C-E7A1-4B84-D829-7CCFAC8C63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97A649-0420-A710-F725-C76CCE0D6C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FD3817-238F-3DE7-81A5-734A9291E7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70E521-970C-0A16-339D-01F543C2F627}"/>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6" name="Footer Placeholder 5">
            <a:extLst>
              <a:ext uri="{FF2B5EF4-FFF2-40B4-BE49-F238E27FC236}">
                <a16:creationId xmlns:a16="http://schemas.microsoft.com/office/drawing/2014/main" id="{27500133-5DFD-4E8F-78F2-20C8E60D5D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1ABD90-E5A5-8AFE-AF68-645F771A0684}"/>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3131900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AE022-1263-0F86-3BCE-C134CAA194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5018F2-F8CE-4B78-5B33-7B7C6A5CDB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FCAB54-FA9D-256B-6B70-DB2FF3755A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68D39D-2C9E-8BEC-F41A-E542FDBE8D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114F0C-49C8-852E-937E-1CED58824D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36C534-DF33-C872-B51D-C6C81045CF1D}"/>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8" name="Footer Placeholder 7">
            <a:extLst>
              <a:ext uri="{FF2B5EF4-FFF2-40B4-BE49-F238E27FC236}">
                <a16:creationId xmlns:a16="http://schemas.microsoft.com/office/drawing/2014/main" id="{38D48419-26EC-1F6C-06ED-4FEDEEA91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8E161C-F9A4-9A91-4F1C-965605687A05}"/>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573357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7F527-C9C4-3AE9-1AB6-0A92543C6D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30A292B-FD17-3482-0ADF-55B3DEAB153F}"/>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4" name="Footer Placeholder 3">
            <a:extLst>
              <a:ext uri="{FF2B5EF4-FFF2-40B4-BE49-F238E27FC236}">
                <a16:creationId xmlns:a16="http://schemas.microsoft.com/office/drawing/2014/main" id="{9FC4CFF4-32C3-E17B-C4D7-7A0CF58DE9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32BFF3-9C13-EF99-0729-5CAD7C9A025C}"/>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3819274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F96DED-A25F-6860-FA29-8B5A8C8810CF}"/>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3" name="Footer Placeholder 2">
            <a:extLst>
              <a:ext uri="{FF2B5EF4-FFF2-40B4-BE49-F238E27FC236}">
                <a16:creationId xmlns:a16="http://schemas.microsoft.com/office/drawing/2014/main" id="{B770275C-7907-9F15-85B5-70FBD72714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A31B68D-9337-DF5E-FDE3-D260CF6E7D36}"/>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3827619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E3C2B-45CE-B511-13E2-9DAE79A845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F10148-A2A9-0799-F4F7-18017CE847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FFB31A-DA89-95E7-AB08-ECC256F197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A7533F-7C4E-022F-1503-9303E85D6E67}"/>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6" name="Footer Placeholder 5">
            <a:extLst>
              <a:ext uri="{FF2B5EF4-FFF2-40B4-BE49-F238E27FC236}">
                <a16:creationId xmlns:a16="http://schemas.microsoft.com/office/drawing/2014/main" id="{2540BDBA-F83C-B51D-3180-D13C4E39E9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F3C8B5-4C34-EC01-EB6E-5BF3EB0D273A}"/>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39309652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A3A86-0B7B-9417-206C-8023301A42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FAB53F-53C6-9A50-564C-B9B09AEED9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FADB9C-BE4B-90D1-43B5-0B304E9FB5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602F0E-CB70-B6CB-0280-2E396AB8B0BA}"/>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6" name="Footer Placeholder 5">
            <a:extLst>
              <a:ext uri="{FF2B5EF4-FFF2-40B4-BE49-F238E27FC236}">
                <a16:creationId xmlns:a16="http://schemas.microsoft.com/office/drawing/2014/main" id="{CD1C533A-08B0-58EA-9AD7-A3F8B324FA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26A372-BDCD-A7E2-5A4F-E62DC39F1C9F}"/>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37005733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0EBD8-E926-E742-3B9A-FB7253CBC3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7357F9-DC12-94D1-6A8F-A398E60616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E06DF-5858-0C46-6785-0912478308C3}"/>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5" name="Footer Placeholder 4">
            <a:extLst>
              <a:ext uri="{FF2B5EF4-FFF2-40B4-BE49-F238E27FC236}">
                <a16:creationId xmlns:a16="http://schemas.microsoft.com/office/drawing/2014/main" id="{6E465DCB-E870-DEF5-349E-FB0C17002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0E2825-6709-2936-5F16-188693E21D04}"/>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2748083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190BBB-294E-EA0B-4584-034FA002CA0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E2A05C-F0E4-B4A7-DC39-EB2E7568FD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983312-CA81-4776-9938-6738102779FC}"/>
              </a:ext>
            </a:extLst>
          </p:cNvPr>
          <p:cNvSpPr>
            <a:spLocks noGrp="1"/>
          </p:cNvSpPr>
          <p:nvPr>
            <p:ph type="dt" sz="half" idx="10"/>
          </p:nvPr>
        </p:nvSpPr>
        <p:spPr/>
        <p:txBody>
          <a:bodyPr/>
          <a:lstStyle/>
          <a:p>
            <a:fld id="{4B84967F-2382-1D42-B474-ED4C6215D2E3}" type="datetimeFigureOut">
              <a:rPr lang="en-US" smtClean="0"/>
              <a:t>3/4/2026</a:t>
            </a:fld>
            <a:endParaRPr lang="en-US"/>
          </a:p>
        </p:txBody>
      </p:sp>
      <p:sp>
        <p:nvSpPr>
          <p:cNvPr id="5" name="Footer Placeholder 4">
            <a:extLst>
              <a:ext uri="{FF2B5EF4-FFF2-40B4-BE49-F238E27FC236}">
                <a16:creationId xmlns:a16="http://schemas.microsoft.com/office/drawing/2014/main" id="{86B87C54-F5DE-248C-FC2C-5BB73F76D0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672711-175A-0A82-C452-816AAB8F9911}"/>
              </a:ext>
            </a:extLst>
          </p:cNvPr>
          <p:cNvSpPr>
            <a:spLocks noGrp="1"/>
          </p:cNvSpPr>
          <p:nvPr>
            <p:ph type="sldNum" sz="quarter" idx="12"/>
          </p:nvPr>
        </p:nvSpPr>
        <p:spPr/>
        <p:txBody>
          <a:bodyPr/>
          <a:lstStyle/>
          <a:p>
            <a:fld id="{A536A363-BB52-F847-9CC8-A14FBF3DB02D}" type="slidenum">
              <a:rPr lang="en-US" smtClean="0"/>
              <a:t>‹#›</a:t>
            </a:fld>
            <a:endParaRPr lang="en-US"/>
          </a:p>
        </p:txBody>
      </p:sp>
    </p:spTree>
    <p:extLst>
      <p:ext uri="{BB962C8B-B14F-4D97-AF65-F5344CB8AC3E}">
        <p14:creationId xmlns:p14="http://schemas.microsoft.com/office/powerpoint/2010/main" val="3888197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C7F74-E65C-984E-FFFB-9873BF0523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77072B-1A48-E8CC-BA32-C6C0F54A37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46E196-C6A3-D45C-AE7F-358CCC0114BC}"/>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5" name="Footer Placeholder 4">
            <a:extLst>
              <a:ext uri="{FF2B5EF4-FFF2-40B4-BE49-F238E27FC236}">
                <a16:creationId xmlns:a16="http://schemas.microsoft.com/office/drawing/2014/main" id="{3EF0C394-B57F-0355-CCFD-984B2FE12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BE2EA4-D9C9-6654-B8BA-1C033886418C}"/>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3893569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E867D-53A7-E375-1117-1A31A9D525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0513F4-D2B2-F0E3-ECBA-F3DC31E94C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E8344E-33BD-ECDF-B54C-D2495594097E}"/>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5" name="Footer Placeholder 4">
            <a:extLst>
              <a:ext uri="{FF2B5EF4-FFF2-40B4-BE49-F238E27FC236}">
                <a16:creationId xmlns:a16="http://schemas.microsoft.com/office/drawing/2014/main" id="{1883BA72-D85A-09D5-0600-DA0ADB549F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82EF3A-9F15-3C46-FFFB-022261A7C4D0}"/>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31257577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E438D-15AB-1384-01DA-DBC8400254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5BF7F2-D1ED-7EA7-354A-565D52FF4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6E1DCA-88C9-4457-D10B-A94EB9AD7826}"/>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5" name="Footer Placeholder 4">
            <a:extLst>
              <a:ext uri="{FF2B5EF4-FFF2-40B4-BE49-F238E27FC236}">
                <a16:creationId xmlns:a16="http://schemas.microsoft.com/office/drawing/2014/main" id="{3754F4D0-A1CD-2FEC-7FE5-3EFEA82E33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13ACB-3D51-C021-380A-422741CC01C3}"/>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17539733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998A7-CA9A-1FEB-D37F-86B06EC6BA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C477CC-EB3F-8190-5A4C-65AE4E397D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C5C47D-3BE5-48D2-EE39-FCF2318426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F493D8-52FD-639F-7179-FFC6FA0DD796}"/>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6" name="Footer Placeholder 5">
            <a:extLst>
              <a:ext uri="{FF2B5EF4-FFF2-40B4-BE49-F238E27FC236}">
                <a16:creationId xmlns:a16="http://schemas.microsoft.com/office/drawing/2014/main" id="{FBC36B6A-9301-ABDB-03CF-23ADF7F07C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7E4F21-C24C-D131-6D7F-52B80594D4DB}"/>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9123631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4D842-A184-D34E-83A3-7939A51F2F3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B88A4F-A689-1A7A-CAA8-4068B47FD4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A3E650-B706-5DEB-EE7A-90F3218CF8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D9BED9-8399-658E-9C06-CE1A6A0093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063B30-E962-04B2-019E-17B9C7A4EE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8B6CFA-AA84-B957-4789-8CE9BB158971}"/>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8" name="Footer Placeholder 7">
            <a:extLst>
              <a:ext uri="{FF2B5EF4-FFF2-40B4-BE49-F238E27FC236}">
                <a16:creationId xmlns:a16="http://schemas.microsoft.com/office/drawing/2014/main" id="{E792B9A4-0BCD-4078-27F1-CE03080C7B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B652E3-0273-69D9-07C6-940891B923DF}"/>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1508904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1E62D-DDB5-965C-61E2-C64BE73C91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E61465-2D74-BA61-3A96-9F2CCD6A7A14}"/>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4" name="Footer Placeholder 3">
            <a:extLst>
              <a:ext uri="{FF2B5EF4-FFF2-40B4-BE49-F238E27FC236}">
                <a16:creationId xmlns:a16="http://schemas.microsoft.com/office/drawing/2014/main" id="{A8C54FB0-75C8-BAB0-E08F-5597C745F4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EBFBCC-94A9-E98E-22C3-CC3862648A62}"/>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28175721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24318E-3FAE-E6CF-52C8-A5357EEE763B}"/>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3" name="Footer Placeholder 2">
            <a:extLst>
              <a:ext uri="{FF2B5EF4-FFF2-40B4-BE49-F238E27FC236}">
                <a16:creationId xmlns:a16="http://schemas.microsoft.com/office/drawing/2014/main" id="{C9B0A48F-0238-53D6-2204-E5B225E25A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CE8633-0444-E110-E633-38AC564DC0D0}"/>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42071919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A3B09-7850-228A-25AC-33C768D9D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5F54079-0291-2553-0325-367A181407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68713B-4F7B-73A8-AC88-08F4E43387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F00650-DD85-EA5B-AC1C-BD0EA4C575C7}"/>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6" name="Footer Placeholder 5">
            <a:extLst>
              <a:ext uri="{FF2B5EF4-FFF2-40B4-BE49-F238E27FC236}">
                <a16:creationId xmlns:a16="http://schemas.microsoft.com/office/drawing/2014/main" id="{D02F2E68-5EFE-4521-37C9-0D2D2A5F17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C79F28-1FD0-F39C-054C-149BB5733DBE}"/>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31663793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42600-E7F7-0A7C-3F48-7DC4376082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1D641E-C182-AA2F-BDCE-515CDD073D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6BA398-7343-A78C-5E87-2861D87332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D3B96A-4338-90F4-C630-4B1D3B913883}"/>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6" name="Footer Placeholder 5">
            <a:extLst>
              <a:ext uri="{FF2B5EF4-FFF2-40B4-BE49-F238E27FC236}">
                <a16:creationId xmlns:a16="http://schemas.microsoft.com/office/drawing/2014/main" id="{C5199B5F-56F1-C929-633A-316982F9F3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60F7B3-C312-29B8-3DC6-506DD032AEC7}"/>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17942196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08239-20ED-83C2-5E94-937A1AD96E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B3D5DE-5127-38D3-6E89-B9D722EC23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445D7-6DAD-B423-C661-09989B9F54AF}"/>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5" name="Footer Placeholder 4">
            <a:extLst>
              <a:ext uri="{FF2B5EF4-FFF2-40B4-BE49-F238E27FC236}">
                <a16:creationId xmlns:a16="http://schemas.microsoft.com/office/drawing/2014/main" id="{88ED203D-59EC-5FB7-5C4E-181DE2DCD8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4D749D-FD83-7F6C-FA44-FEFB64867F61}"/>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11466575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73154B-5C96-2E9F-D96C-FB3E0FD938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25D171-DBA8-3F47-FB05-D4B0DD2C7A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4BBFC7-FA2F-62E6-4063-B8016AC9542D}"/>
              </a:ext>
            </a:extLst>
          </p:cNvPr>
          <p:cNvSpPr>
            <a:spLocks noGrp="1"/>
          </p:cNvSpPr>
          <p:nvPr>
            <p:ph type="dt" sz="half" idx="10"/>
          </p:nvPr>
        </p:nvSpPr>
        <p:spPr/>
        <p:txBody>
          <a:bodyPr/>
          <a:lstStyle/>
          <a:p>
            <a:fld id="{4815D5C6-F7A1-5D44-B216-FA90FD5DD46C}" type="datetimeFigureOut">
              <a:rPr lang="en-US" smtClean="0"/>
              <a:t>3/4/2026</a:t>
            </a:fld>
            <a:endParaRPr lang="en-US"/>
          </a:p>
        </p:txBody>
      </p:sp>
      <p:sp>
        <p:nvSpPr>
          <p:cNvPr id="5" name="Footer Placeholder 4">
            <a:extLst>
              <a:ext uri="{FF2B5EF4-FFF2-40B4-BE49-F238E27FC236}">
                <a16:creationId xmlns:a16="http://schemas.microsoft.com/office/drawing/2014/main" id="{4BD08E5F-665E-DCDF-E602-9A5066D398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3BF30F-B402-482F-1090-52983BFFEAD3}"/>
              </a:ext>
            </a:extLst>
          </p:cNvPr>
          <p:cNvSpPr>
            <a:spLocks noGrp="1"/>
          </p:cNvSpPr>
          <p:nvPr>
            <p:ph type="sldNum" sz="quarter" idx="12"/>
          </p:nvPr>
        </p:nvSpPr>
        <p:spPr/>
        <p:txBody>
          <a:bodyPr/>
          <a:lstStyle/>
          <a:p>
            <a:fld id="{F1D5B741-F039-A04D-81E9-C0DE6BA46523}" type="slidenum">
              <a:rPr lang="en-US" smtClean="0"/>
              <a:t>‹#›</a:t>
            </a:fld>
            <a:endParaRPr lang="en-US"/>
          </a:p>
        </p:txBody>
      </p:sp>
    </p:spTree>
    <p:extLst>
      <p:ext uri="{BB962C8B-B14F-4D97-AF65-F5344CB8AC3E}">
        <p14:creationId xmlns:p14="http://schemas.microsoft.com/office/powerpoint/2010/main" val="29936013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3DD871-3B5C-C6B1-86B7-BAD5C9E026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8315E8F-94C3-DEA7-72D7-43D974A556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A33BC0-FF84-DF07-2D03-812433C8C8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0F68AE-1121-E34D-AB43-7EFA01D82E5E}" type="datetimeFigureOut">
              <a:rPr lang="en-US" smtClean="0"/>
              <a:t>3/4/2026</a:t>
            </a:fld>
            <a:endParaRPr lang="en-US"/>
          </a:p>
        </p:txBody>
      </p:sp>
      <p:sp>
        <p:nvSpPr>
          <p:cNvPr id="5" name="Footer Placeholder 4">
            <a:extLst>
              <a:ext uri="{FF2B5EF4-FFF2-40B4-BE49-F238E27FC236}">
                <a16:creationId xmlns:a16="http://schemas.microsoft.com/office/drawing/2014/main" id="{D9404D14-8F6B-6828-E58B-9590E68C80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D5504E-6E70-6ECE-79C3-BCDDE83ED4B0}"/>
              </a:ext>
            </a:extLst>
          </p:cNvPr>
          <p:cNvSpPr>
            <a:spLocks noGrp="1"/>
          </p:cNvSpPr>
          <p:nvPr>
            <p:ph type="sldNum" sz="quarter" idx="4"/>
          </p:nvPr>
        </p:nvSpPr>
        <p:spPr>
          <a:xfrm>
            <a:off x="11577711" y="6356350"/>
            <a:ext cx="58732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4FE883-4AC6-394B-8129-6E4BB686DB20}" type="slidenum">
              <a:rPr lang="en-US" smtClean="0"/>
              <a:t>‹#›</a:t>
            </a:fld>
            <a:endParaRPr lang="en-US" dirty="0"/>
          </a:p>
        </p:txBody>
      </p:sp>
    </p:spTree>
    <p:extLst>
      <p:ext uri="{BB962C8B-B14F-4D97-AF65-F5344CB8AC3E}">
        <p14:creationId xmlns:p14="http://schemas.microsoft.com/office/powerpoint/2010/main" val="28194758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55914E-B12D-A7B0-5FD9-797382E1C3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96845E-D9F9-8BDF-C840-02AB94A466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00E1BE-A7B7-ED17-1838-DBB3F46715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84967F-2382-1D42-B474-ED4C6215D2E3}" type="datetimeFigureOut">
              <a:rPr lang="en-US" smtClean="0"/>
              <a:t>3/4/2026</a:t>
            </a:fld>
            <a:endParaRPr lang="en-US"/>
          </a:p>
        </p:txBody>
      </p:sp>
      <p:sp>
        <p:nvSpPr>
          <p:cNvPr id="5" name="Footer Placeholder 4">
            <a:extLst>
              <a:ext uri="{FF2B5EF4-FFF2-40B4-BE49-F238E27FC236}">
                <a16:creationId xmlns:a16="http://schemas.microsoft.com/office/drawing/2014/main" id="{4D185862-84FD-CE9D-9FE7-4D23394472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3353032-999A-FB0D-8D6A-9372F506D6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36A363-BB52-F847-9CC8-A14FBF3DB02D}" type="slidenum">
              <a:rPr lang="en-US" smtClean="0"/>
              <a:t>‹#›</a:t>
            </a:fld>
            <a:endParaRPr lang="en-US"/>
          </a:p>
        </p:txBody>
      </p:sp>
    </p:spTree>
    <p:extLst>
      <p:ext uri="{BB962C8B-B14F-4D97-AF65-F5344CB8AC3E}">
        <p14:creationId xmlns:p14="http://schemas.microsoft.com/office/powerpoint/2010/main" val="1910094891"/>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929900-2ACA-4B92-0E1A-06DA734F90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8FEAE7-C0FC-3C7F-593D-72FA7D1039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9F4F41-5353-39BA-3414-85A2A531C2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15D5C6-F7A1-5D44-B216-FA90FD5DD46C}" type="datetimeFigureOut">
              <a:rPr lang="en-US" smtClean="0"/>
              <a:t>3/4/2026</a:t>
            </a:fld>
            <a:endParaRPr lang="en-US"/>
          </a:p>
        </p:txBody>
      </p:sp>
      <p:sp>
        <p:nvSpPr>
          <p:cNvPr id="5" name="Footer Placeholder 4">
            <a:extLst>
              <a:ext uri="{FF2B5EF4-FFF2-40B4-BE49-F238E27FC236}">
                <a16:creationId xmlns:a16="http://schemas.microsoft.com/office/drawing/2014/main" id="{16726262-21EF-79AE-4E83-5A1E4D0B13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A5C12F-C386-8200-06E7-EF5A40CF07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D5B741-F039-A04D-81E9-C0DE6BA46523}" type="slidenum">
              <a:rPr lang="en-US" smtClean="0"/>
              <a:t>‹#›</a:t>
            </a:fld>
            <a:endParaRPr lang="en-US"/>
          </a:p>
        </p:txBody>
      </p:sp>
    </p:spTree>
    <p:extLst>
      <p:ext uri="{BB962C8B-B14F-4D97-AF65-F5344CB8AC3E}">
        <p14:creationId xmlns:p14="http://schemas.microsoft.com/office/powerpoint/2010/main" val="4253593932"/>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F6DBE204-75C9-6F86-317E-5CFC06FC46FF}"/>
              </a:ext>
            </a:extLst>
          </p:cNvPr>
          <p:cNvSpPr>
            <a:spLocks noGrp="1"/>
          </p:cNvSpPr>
          <p:nvPr>
            <p:ph type="subTitle" idx="1"/>
          </p:nvPr>
        </p:nvSpPr>
        <p:spPr>
          <a:xfrm>
            <a:off x="1426445" y="5077688"/>
            <a:ext cx="4165755" cy="1464519"/>
          </a:xfrm>
        </p:spPr>
        <p:txBody>
          <a:bodyPr>
            <a:normAutofit fontScale="92500"/>
          </a:bodyPr>
          <a:lstStyle/>
          <a:p>
            <a:r>
              <a:rPr dirty="0"/>
              <a:t>Dhanush Neelakantan </a:t>
            </a:r>
            <a:endParaRPr lang="en-US" dirty="0"/>
          </a:p>
          <a:p>
            <a:r>
              <a:rPr dirty="0"/>
              <a:t>Lavanesh </a:t>
            </a:r>
            <a:r>
              <a:rPr dirty="0" err="1"/>
              <a:t>Thirukonda</a:t>
            </a:r>
            <a:r>
              <a:rPr dirty="0"/>
              <a:t> Mahendran</a:t>
            </a:r>
            <a:br>
              <a:rPr dirty="0"/>
            </a:br>
            <a:r>
              <a:rPr dirty="0"/>
              <a:t>CS 655: Wireless and Mobile Computing</a:t>
            </a:r>
            <a:endParaRPr lang="en-US" dirty="0"/>
          </a:p>
        </p:txBody>
      </p:sp>
      <p:sp>
        <p:nvSpPr>
          <p:cNvPr id="7" name="Title 6">
            <a:extLst>
              <a:ext uri="{FF2B5EF4-FFF2-40B4-BE49-F238E27FC236}">
                <a16:creationId xmlns:a16="http://schemas.microsoft.com/office/drawing/2014/main" id="{A9199008-FA7F-E626-60CB-AC2CECA62B96}"/>
              </a:ext>
            </a:extLst>
          </p:cNvPr>
          <p:cNvSpPr>
            <a:spLocks noGrp="1"/>
          </p:cNvSpPr>
          <p:nvPr>
            <p:ph type="ctrTitle"/>
          </p:nvPr>
        </p:nvSpPr>
        <p:spPr/>
        <p:txBody>
          <a:bodyPr>
            <a:normAutofit/>
          </a:bodyPr>
          <a:lstStyle/>
          <a:p>
            <a:r>
              <a:rPr dirty="0"/>
              <a:t>Smart</a:t>
            </a:r>
            <a:r>
              <a:rPr lang="en-US" dirty="0"/>
              <a:t> </a:t>
            </a:r>
            <a:r>
              <a:rPr dirty="0"/>
              <a:t>Ambient</a:t>
            </a:r>
            <a:r>
              <a:rPr lang="en-US" dirty="0"/>
              <a:t> Noise</a:t>
            </a:r>
            <a:r>
              <a:rPr dirty="0"/>
              <a:t>-Aware</a:t>
            </a:r>
            <a:r>
              <a:rPr lang="en-US" dirty="0"/>
              <a:t> Smartphone Notification System</a:t>
            </a:r>
          </a:p>
        </p:txBody>
      </p:sp>
    </p:spTree>
    <p:extLst>
      <p:ext uri="{BB962C8B-B14F-4D97-AF65-F5344CB8AC3E}">
        <p14:creationId xmlns:p14="http://schemas.microsoft.com/office/powerpoint/2010/main" val="1765512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0265D52-2C18-34EA-8D5F-11383E2AB466}"/>
              </a:ext>
            </a:extLst>
          </p:cNvPr>
          <p:cNvPicPr>
            <a:picLocks noGrp="1" noChangeAspect="1"/>
          </p:cNvPicPr>
          <p:nvPr>
            <p:ph idx="1"/>
          </p:nvPr>
        </p:nvPicPr>
        <p:blipFill>
          <a:blip r:embed="rId3"/>
          <a:stretch>
            <a:fillRect/>
          </a:stretch>
        </p:blipFill>
        <p:spPr>
          <a:xfrm>
            <a:off x="-14069" y="6192295"/>
            <a:ext cx="12206069" cy="690789"/>
          </a:xfrm>
        </p:spPr>
      </p:pic>
      <p:sp>
        <p:nvSpPr>
          <p:cNvPr id="2" name="Title 1">
            <a:extLst>
              <a:ext uri="{FF2B5EF4-FFF2-40B4-BE49-F238E27FC236}">
                <a16:creationId xmlns:a16="http://schemas.microsoft.com/office/drawing/2014/main" id="{67ADE210-04F2-C333-E82F-063748B5B191}"/>
              </a:ext>
            </a:extLst>
          </p:cNvPr>
          <p:cNvSpPr>
            <a:spLocks noGrp="1"/>
          </p:cNvSpPr>
          <p:nvPr>
            <p:ph type="title"/>
          </p:nvPr>
        </p:nvSpPr>
        <p:spPr/>
        <p:txBody>
          <a:bodyPr>
            <a:normAutofit/>
          </a:bodyPr>
          <a:lstStyle/>
          <a:p>
            <a:r>
              <a:t>Motivation &amp; Problem</a:t>
            </a:r>
          </a:p>
        </p:txBody>
      </p:sp>
      <p:sp>
        <p:nvSpPr>
          <p:cNvPr id="8" name="Footer Placeholder 4">
            <a:extLst>
              <a:ext uri="{FF2B5EF4-FFF2-40B4-BE49-F238E27FC236}">
                <a16:creationId xmlns:a16="http://schemas.microsoft.com/office/drawing/2014/main" id="{4C3F71C4-2639-4C05-B5B2-87521EE42506}"/>
              </a:ext>
            </a:extLst>
          </p:cNvPr>
          <p:cNvSpPr>
            <a:spLocks noGrp="1"/>
          </p:cNvSpPr>
          <p:nvPr>
            <p:ph type="ftr" sz="quarter" idx="11"/>
          </p:nvPr>
        </p:nvSpPr>
        <p:spPr>
          <a:xfrm rot="16200000">
            <a:off x="10817434" y="4975433"/>
            <a:ext cx="2095133" cy="406400"/>
          </a:xfrm>
        </p:spPr>
        <p:txBody>
          <a:bodyPr/>
          <a:lstStyle>
            <a:lvl1pPr algn="r">
              <a:defRPr>
                <a:solidFill>
                  <a:schemeClr val="tx2"/>
                </a:solidFill>
              </a:defRPr>
            </a:lvl1pPr>
          </a:lstStyle>
          <a:p>
            <a:pPr algn="l"/>
            <a:r>
              <a:rPr lang="en-US" sz="1000" dirty="0"/>
              <a:t>GEORGE MASON UNIVERSITY</a:t>
            </a:r>
          </a:p>
        </p:txBody>
      </p:sp>
      <p:sp>
        <p:nvSpPr>
          <p:cNvPr id="9" name="Slide Number Placeholder 5">
            <a:extLst>
              <a:ext uri="{FF2B5EF4-FFF2-40B4-BE49-F238E27FC236}">
                <a16:creationId xmlns:a16="http://schemas.microsoft.com/office/drawing/2014/main" id="{5F7DB957-6E8A-735B-055E-5FCEFEC97F00}"/>
              </a:ext>
            </a:extLst>
          </p:cNvPr>
          <p:cNvSpPr>
            <a:spLocks noGrp="1"/>
          </p:cNvSpPr>
          <p:nvPr>
            <p:ph type="sldNum" sz="quarter" idx="12"/>
          </p:nvPr>
        </p:nvSpPr>
        <p:spPr>
          <a:xfrm>
            <a:off x="11661800" y="6356350"/>
            <a:ext cx="406400" cy="365125"/>
          </a:xfrm>
        </p:spPr>
        <p:txBody>
          <a:bodyPr/>
          <a:lstStyle>
            <a:lvl1pPr>
              <a:defRPr>
                <a:solidFill>
                  <a:schemeClr val="tx2"/>
                </a:solidFill>
              </a:defRPr>
            </a:lvl1pPr>
          </a:lstStyle>
          <a:p>
            <a:pPr algn="ctr"/>
            <a:fld id="{944FE883-4AC6-394B-8129-6E4BB686DB20}" type="slidenum">
              <a:rPr lang="en-US" smtClean="0">
                <a:solidFill>
                  <a:schemeClr val="bg1"/>
                </a:solidFill>
              </a:rPr>
              <a:pPr algn="ctr"/>
              <a:t>2</a:t>
            </a:fld>
            <a:endParaRPr lang="en-US" dirty="0">
              <a:solidFill>
                <a:schemeClr val="bg1"/>
              </a:solidFill>
            </a:endParaRPr>
          </a:p>
        </p:txBody>
      </p:sp>
      <p:sp>
        <p:nvSpPr>
          <p:cNvPr id="10" name="TextBox 9"/>
          <p:cNvSpPr txBox="1"/>
          <p:nvPr/>
        </p:nvSpPr>
        <p:spPr>
          <a:xfrm>
            <a:off x="838200" y="1600000"/>
            <a:ext cx="9500000" cy="4200000"/>
          </a:xfrm>
          <a:prstGeom prst="rect">
            <a:avLst/>
          </a:prstGeom>
          <a:noFill/>
        </p:spPr>
        <p:txBody>
          <a:bodyPr wrap="square">
            <a:spAutoFit/>
          </a:bodyPr>
          <a:lstStyle/>
          <a:p>
            <a:pPr>
              <a:defRPr sz="2000" b="1"/>
            </a:pPr>
            <a:r>
              <a:t>The Goal</a:t>
            </a:r>
          </a:p>
          <a:p>
            <a:pPr>
              <a:defRPr sz="1800" b="0"/>
            </a:pPr>
            <a:r>
              <a:t>Move beyond static settings to autonomous, environment-aware devices.</a:t>
            </a:r>
          </a:p>
          <a:p>
            <a:pPr>
              <a:buNone/>
            </a:pPr>
            <a:endParaRPr/>
          </a:p>
          <a:p>
            <a:pPr>
              <a:defRPr sz="2000" b="1"/>
            </a:pPr>
            <a:r>
              <a:t>Current State</a:t>
            </a:r>
          </a:p>
          <a:p>
            <a:pPr>
              <a:defRPr sz="1800" b="0"/>
            </a:pPr>
            <a:r>
              <a:t>Basic threshold-based rules for noise (RMS) and motion.</a:t>
            </a:r>
          </a:p>
          <a:p>
            <a:pPr>
              <a:defRPr sz="1800" b="0"/>
            </a:pPr>
            <a:r>
              <a:t>Limited context (Quiet/Moderate/Loud) without intelligent inference.</a:t>
            </a:r>
          </a:p>
          <a:p>
            <a:pPr>
              <a:buNone/>
            </a:pPr>
            <a:endParaRPr/>
          </a:p>
          <a:p>
            <a:pPr>
              <a:defRPr sz="2000" b="1"/>
            </a:pPr>
            <a:r>
              <a:t>The Gap</a:t>
            </a:r>
          </a:p>
          <a:p>
            <a:pPr>
              <a:defRPr sz="1800" b="0"/>
            </a:pPr>
            <a:r>
              <a:t>Lack of robust environmental classification (e.g., Library vs. Gym).</a:t>
            </a:r>
          </a:p>
          <a:p>
            <a:pPr>
              <a:defRPr sz="1800" b="0"/>
            </a:pPr>
            <a:r>
              <a:t>Absence of efficient, on-device ML models for real-time sensing.</a:t>
            </a:r>
          </a:p>
        </p:txBody>
      </p:sp>
    </p:spTree>
    <p:extLst>
      <p:ext uri="{BB962C8B-B14F-4D97-AF65-F5344CB8AC3E}">
        <p14:creationId xmlns:p14="http://schemas.microsoft.com/office/powerpoint/2010/main" val="3258622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BA789F-3B04-1B87-3B1C-85890EB3F9D3}"/>
              </a:ext>
            </a:extLst>
          </p:cNvPr>
          <p:cNvSpPr>
            <a:spLocks noGrp="1"/>
          </p:cNvSpPr>
          <p:nvPr>
            <p:ph type="title"/>
          </p:nvPr>
        </p:nvSpPr>
        <p:spPr/>
        <p:txBody>
          <a:bodyPr/>
          <a:lstStyle/>
          <a:p>
            <a:r>
              <a:t>Initial Plan &amp; Technical Approach</a:t>
            </a:r>
            <a:endParaRPr lang="en-US"/>
          </a:p>
        </p:txBody>
      </p:sp>
      <p:sp>
        <p:nvSpPr>
          <p:cNvPr id="5" name="Content Placeholder 4">
            <a:extLst>
              <a:ext uri="{FF2B5EF4-FFF2-40B4-BE49-F238E27FC236}">
                <a16:creationId xmlns:a16="http://schemas.microsoft.com/office/drawing/2014/main" id="{592BF921-D096-B105-BBB9-6C55800F794A}"/>
              </a:ext>
            </a:extLst>
          </p:cNvPr>
          <p:cNvSpPr>
            <a:spLocks noGrp="1"/>
          </p:cNvSpPr>
          <p:nvPr>
            <p:ph idx="1"/>
          </p:nvPr>
        </p:nvSpPr>
        <p:spPr/>
        <p:txBody>
          <a:bodyPr/>
          <a:lstStyle/>
          <a:p>
            <a:pPr>
              <a:defRPr sz="2000" b="1"/>
            </a:pPr>
            <a:r>
              <a:t>Proposed Enhancements</a:t>
            </a:r>
            <a:endParaRPr lang="en-US"/>
          </a:p>
          <a:p>
            <a:pPr>
              <a:defRPr sz="1800" b="0"/>
            </a:pPr>
            <a:r>
              <a:t>Advanced Sensing: Integrate light sensors and MFCC/spectrogram features for audio.</a:t>
            </a:r>
          </a:p>
          <a:p>
            <a:pPr>
              <a:defRPr sz="1800" b="0"/>
            </a:pPr>
            <a:r>
              <a:t>On-Device AI: Replace threshold logic with TensorFlow Lite (TFLite) models.</a:t>
            </a:r>
          </a:p>
        </p:txBody>
      </p:sp>
      <p:sp>
        <p:nvSpPr>
          <p:cNvPr id="6" name="Content Placeholder 5">
            <a:extLst>
              <a:ext uri="{FF2B5EF4-FFF2-40B4-BE49-F238E27FC236}">
                <a16:creationId xmlns:a16="http://schemas.microsoft.com/office/drawing/2014/main" id="{BEFE555B-15A5-A2E6-15F4-DE1DDE1C3F56}"/>
              </a:ext>
            </a:extLst>
          </p:cNvPr>
          <p:cNvSpPr>
            <a:spLocks noGrp="1"/>
          </p:cNvSpPr>
          <p:nvPr>
            <p:ph sz="quarter" idx="13"/>
          </p:nvPr>
        </p:nvSpPr>
        <p:spPr/>
        <p:txBody>
          <a:bodyPr/>
          <a:lstStyle/>
          <a:p>
            <a:pPr>
              <a:defRPr sz="2000" b="1"/>
            </a:pPr>
            <a:r>
              <a:t>Implementation</a:t>
            </a:r>
            <a:endParaRPr lang="en-US"/>
          </a:p>
          <a:p>
            <a:pPr>
              <a:defRPr sz="1800" b="0"/>
            </a:pPr>
            <a:r>
              <a:t>Python training pipeline → TFLite export → Android integration.</a:t>
            </a:r>
          </a:p>
          <a:p>
            <a:pPr>
              <a:buNone/>
            </a:pPr>
            <a:endParaRPr/>
          </a:p>
          <a:p>
            <a:pPr>
              <a:defRPr sz="2000" b="1"/>
            </a:pPr>
            <a:r>
              <a:t>Evaluation</a:t>
            </a:r>
          </a:p>
          <a:p>
            <a:pPr>
              <a:defRPr sz="1800" b="0"/>
            </a:pPr>
            <a:r>
              <a:t>Measure latency, accuracy, and battery consumption to ensure system efficiency.</a:t>
            </a:r>
          </a:p>
        </p:txBody>
      </p:sp>
    </p:spTree>
    <p:extLst>
      <p:ext uri="{BB962C8B-B14F-4D97-AF65-F5344CB8AC3E}">
        <p14:creationId xmlns:p14="http://schemas.microsoft.com/office/powerpoint/2010/main" val="2501647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0E44AA-6E69-92B0-DEA9-60EE47C595D5}"/>
              </a:ext>
            </a:extLst>
          </p:cNvPr>
          <p:cNvSpPr>
            <a:spLocks noGrp="1"/>
          </p:cNvSpPr>
          <p:nvPr>
            <p:ph type="title"/>
          </p:nvPr>
        </p:nvSpPr>
        <p:spPr/>
        <p:txBody>
          <a:bodyPr/>
          <a:lstStyle/>
          <a:p>
            <a:r>
              <a:t>Thank you</a:t>
            </a:r>
            <a:endParaRPr lang="en-US"/>
          </a:p>
        </p:txBody>
      </p:sp>
      <p:sp>
        <p:nvSpPr>
          <p:cNvPr id="5" name="Text Placeholder 4">
            <a:extLst>
              <a:ext uri="{FF2B5EF4-FFF2-40B4-BE49-F238E27FC236}">
                <a16:creationId xmlns:a16="http://schemas.microsoft.com/office/drawing/2014/main" id="{92865D72-EECA-418A-2089-8F55CD0A9E50}"/>
              </a:ext>
            </a:extLst>
          </p:cNvPr>
          <p:cNvSpPr>
            <a:spLocks noGrp="1"/>
          </p:cNvSpPr>
          <p:nvPr>
            <p:ph type="body" idx="1"/>
          </p:nvPr>
        </p:nvSpPr>
        <p:spPr/>
        <p:txBody>
          <a:bodyPr/>
          <a:lstStyle/>
          <a:p>
            <a:pPr>
              <a:defRPr sz="2800"/>
            </a:pPr>
            <a:r>
              <a:t>Questions?</a:t>
            </a:r>
            <a:endParaRPr lang="en-US"/>
          </a:p>
        </p:txBody>
      </p:sp>
    </p:spTree>
    <p:extLst>
      <p:ext uri="{BB962C8B-B14F-4D97-AF65-F5344CB8AC3E}">
        <p14:creationId xmlns:p14="http://schemas.microsoft.com/office/powerpoint/2010/main" val="1573825497"/>
      </p:ext>
    </p:extLst>
  </p:cSld>
  <p:clrMapOvr>
    <a:masterClrMapping/>
  </p:clrMapOvr>
</p:sld>
</file>

<file path=ppt/theme/theme1.xml><?xml version="1.0" encoding="utf-8"?>
<a:theme xmlns:a="http://schemas.openxmlformats.org/drawingml/2006/main" name="Office Theme">
  <a:themeElements>
    <a:clrScheme name="Custom 17">
      <a:dk1>
        <a:srgbClr val="000000"/>
      </a:dk1>
      <a:lt1>
        <a:srgbClr val="FFFFFF"/>
      </a:lt1>
      <a:dk2>
        <a:srgbClr val="005138"/>
      </a:dk2>
      <a:lt2>
        <a:srgbClr val="E7E6E6"/>
      </a:lt2>
      <a:accent1>
        <a:srgbClr val="FFC733"/>
      </a:accent1>
      <a:accent2>
        <a:srgbClr val="333333"/>
      </a:accent2>
      <a:accent3>
        <a:srgbClr val="A5A5A5"/>
      </a:accent3>
      <a:accent4>
        <a:srgbClr val="FFC000"/>
      </a:accent4>
      <a:accent5>
        <a:srgbClr val="5B9BD5"/>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ddbd1f7-a2a8-49dd-abab-7ee8146c6af2" xsi:nil="true"/>
    <lcf76f155ced4ddcb4097134ff3c332f xmlns="bd144688-6247-4621-b542-e085c424052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6A2B41577934F4998EE62E59EF2A575" ma:contentTypeVersion="18" ma:contentTypeDescription="Create a new document." ma:contentTypeScope="" ma:versionID="08ed6abe202d22a7564eaf9401bbbea6">
  <xsd:schema xmlns:xsd="http://www.w3.org/2001/XMLSchema" xmlns:xs="http://www.w3.org/2001/XMLSchema" xmlns:p="http://schemas.microsoft.com/office/2006/metadata/properties" xmlns:ns2="bd144688-6247-4621-b542-e085c4240526" xmlns:ns3="addbd1f7-a2a8-49dd-abab-7ee8146c6af2" targetNamespace="http://schemas.microsoft.com/office/2006/metadata/properties" ma:root="true" ma:fieldsID="54c0121c81c00630fff12fba9229494e" ns2:_="" ns3:_="">
    <xsd:import namespace="bd144688-6247-4621-b542-e085c4240526"/>
    <xsd:import namespace="addbd1f7-a2a8-49dd-abab-7ee8146c6af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MediaServiceAutoKeyPoints" minOccurs="0"/>
                <xsd:element ref="ns2:MediaServiceKeyPoints"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144688-6247-4621-b542-e085c42405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6c1bbba-1a2d-496b-84ee-32d91506626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ddbd1f7-a2a8-49dd-abab-7ee8146c6af2"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519e31e-9dbf-42dd-9b81-5a40feeeeda2}" ma:internalName="TaxCatchAll" ma:showField="CatchAllData" ma:web="addbd1f7-a2a8-49dd-abab-7ee8146c6a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238F92-D426-4BEE-805A-F80178872645}">
  <ds:schemaRefs>
    <ds:schemaRef ds:uri="http://www.w3.org/XML/1998/namespace"/>
    <ds:schemaRef ds:uri="bd144688-6247-4621-b542-e085c4240526"/>
    <ds:schemaRef ds:uri="http://schemas.microsoft.com/office/2006/metadata/properties"/>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purl.org/dc/elements/1.1/"/>
    <ds:schemaRef ds:uri="addbd1f7-a2a8-49dd-abab-7ee8146c6af2"/>
    <ds:schemaRef ds:uri="http://purl.org/dc/dcmitype/"/>
  </ds:schemaRefs>
</ds:datastoreItem>
</file>

<file path=customXml/itemProps2.xml><?xml version="1.0" encoding="utf-8"?>
<ds:datastoreItem xmlns:ds="http://schemas.openxmlformats.org/officeDocument/2006/customXml" ds:itemID="{B1E4B866-3963-435A-98E6-72B22C6A86A4}">
  <ds:schemaRefs>
    <ds:schemaRef ds:uri="http://schemas.microsoft.com/sharepoint/v3/contenttype/forms"/>
  </ds:schemaRefs>
</ds:datastoreItem>
</file>

<file path=customXml/itemProps3.xml><?xml version="1.0" encoding="utf-8"?>
<ds:datastoreItem xmlns:ds="http://schemas.openxmlformats.org/officeDocument/2006/customXml" ds:itemID="{5282FB56-C8D1-417A-A82B-CCDC8771C3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144688-6247-4621-b542-e085c4240526"/>
    <ds:schemaRef ds:uri="addbd1f7-a2a8-49dd-abab-7ee8146c6a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62</TotalTime>
  <Words>309</Words>
  <Application>Microsoft Office PowerPoint</Application>
  <PresentationFormat>Widescreen</PresentationFormat>
  <Paragraphs>31</Paragraphs>
  <Slides>4</Slides>
  <Notes>3</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vt:i4>
      </vt:variant>
    </vt:vector>
  </HeadingPairs>
  <TitlesOfParts>
    <vt:vector size="12" baseType="lpstr">
      <vt:lpstr>Arial</vt:lpstr>
      <vt:lpstr>Calibri</vt:lpstr>
      <vt:lpstr>Calibri Light</vt:lpstr>
      <vt:lpstr>Franklin Gothic Book</vt:lpstr>
      <vt:lpstr>Franklin Gothic Medium</vt:lpstr>
      <vt:lpstr>Office Theme</vt:lpstr>
      <vt:lpstr>Custom Design</vt:lpstr>
      <vt:lpstr>1_Custom Design</vt:lpstr>
      <vt:lpstr>Smart Ambient Noise-Aware Smartphone Notification System</vt:lpstr>
      <vt:lpstr>Motivation &amp; Problem</vt:lpstr>
      <vt:lpstr>Initial Plan &amp; Technical Approach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Claire Brandt</dc:creator>
  <cp:lastModifiedBy>Dhanush Neelakantan</cp:lastModifiedBy>
  <cp:revision>5</cp:revision>
  <dcterms:created xsi:type="dcterms:W3CDTF">2024-04-18T20:24:44Z</dcterms:created>
  <dcterms:modified xsi:type="dcterms:W3CDTF">2026-03-04T05:16:01Z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0x01010063BEF54C2EDBAD42ABA6D2B17A8AA352</vt:lpwstr>
  </property>
</Properties>
</file>